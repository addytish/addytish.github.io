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103120"/>
            <a:ext cx="6400800" cy="6400800"/>
          </a:xfrm>
          <a:prstGeom prst="ellipse">
            <a:avLst/>
          </a:prstGeom>
          <a:solidFill>
            <a:srgbClr val="1E1E2E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291840"/>
            <a:ext cx="3840480" cy="3840480"/>
          </a:xfrm>
          <a:prstGeom prst="ellipse">
            <a:avLst/>
          </a:prstGeom>
          <a:solidFill>
            <a:srgbClr val="232336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914400"/>
            <a:ext cx="201168" cy="20116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5" name="Shape 3"/>
          <p:cNvSpPr/>
          <p:nvPr/>
        </p:nvSpPr>
        <p:spPr>
          <a:xfrm>
            <a:off x="996696" y="914400"/>
            <a:ext cx="201168" cy="20116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1307592" y="914400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My Portfolio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scoped, designed, and shipped </a:t>
            </a:r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addytish.github.io</a:t>
            </a:r>
            <a:pPr indent="0" marL="0">
              <a:buNone/>
            </a:pPr>
            <a:r>
              <a:rPr lang="en-US" sz="16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solo, fast, and with AI as my build partner.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 Sharma  ·  Senior Product Manager  · 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resume said what I'd done. It didn't show how I think.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4F4F6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03120"/>
            <a:ext cx="36576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40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PDF resume and a generic template portfolio could list my work, but not demonstrate product judgment — the thing hiring managers actually evaluate.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4F4F6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2103120"/>
            <a:ext cx="36576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240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9160" y="269748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design or engineering team. One person, evenings and weekends, shipping to GitHub Pages.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4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458200" y="2103120"/>
            <a:ext cx="36576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2240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8200" y="269748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tools (Claude, Figma-style iteration, code) as a force multiplier — and let the build process itself become part of the pitch.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AUDIENCE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a recruiter with 30 seconds and a closed laptop in mind.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only get 30 seconds, the site needs to do three things immediately: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20848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product craft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41401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site's own structure and interactions should read as a product decision — not just claim PM skill in a bullet point.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401568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3383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concrete impact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371246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real numbers — revenue generated, tests shipped, users reached — before anything else.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700016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700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46817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modern fluency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501091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obvious this was built hands-on with today's AI tools, not outsourced or templated.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scroll, six purposeful sections — no nav-click required.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2313432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86968" y="2862072"/>
            <a:ext cx="1472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+ headline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proof stats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2834640"/>
            <a:ext cx="201168" cy="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70048" y="214884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79776" y="2313432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79776" y="2862072"/>
            <a:ext cx="1472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case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studies, fly-in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61688" y="2834640"/>
            <a:ext cx="201168" cy="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62856" y="214884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F3E8FF"/>
          </a:solidFill>
          <a:ln w="15875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72584" y="2313432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Build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72584" y="2862072"/>
            <a:ext cx="1472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circle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54496" y="2834640"/>
            <a:ext cx="201168" cy="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55664" y="214884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65392" y="2313432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65392" y="2862072"/>
            <a:ext cx="1472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fluency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147304" y="2834640"/>
            <a:ext cx="201168" cy="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48472" y="214884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58200" y="2313432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458200" y="2862072"/>
            <a:ext cx="1472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040112" y="2834640"/>
            <a:ext cx="201168" cy="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0" y="214884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351008" y="2313432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351008" y="2862072"/>
            <a:ext cx="1472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single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a single continuous scroll beats a multi-page nav — recruiters scan, they rarely click.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layout directions for the homepage, before committing.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371600"/>
            <a:ext cx="3941064" cy="4251960"/>
          </a:xfrm>
          <a:prstGeom prst="rect">
            <a:avLst/>
          </a:prstGeom>
          <a:solidFill>
            <a:srgbClr val="DDDEE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36118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9D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29968"/>
            <a:ext cx="914400" cy="128016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331720"/>
            <a:ext cx="2377440" cy="201168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606040"/>
            <a:ext cx="1737360" cy="201168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063240"/>
            <a:ext cx="1485900" cy="777240"/>
          </a:xfrm>
          <a:prstGeom prst="rect">
            <a:avLst/>
          </a:prstGeom>
          <a:solidFill>
            <a:srgbClr val="E5E7EB"/>
          </a:solidFill>
          <a:ln w="9525">
            <a:solidFill>
              <a:srgbClr val="C7C9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37460" y="3063240"/>
            <a:ext cx="1485900" cy="777240"/>
          </a:xfrm>
          <a:prstGeom prst="rect">
            <a:avLst/>
          </a:prstGeom>
          <a:solidFill>
            <a:srgbClr val="E5E7EB"/>
          </a:solidFill>
          <a:ln w="9525">
            <a:solidFill>
              <a:srgbClr val="C7C9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977640"/>
            <a:ext cx="1485900" cy="777240"/>
          </a:xfrm>
          <a:prstGeom prst="rect">
            <a:avLst/>
          </a:prstGeom>
          <a:solidFill>
            <a:srgbClr val="E5E7EB"/>
          </a:solidFill>
          <a:ln w="9525">
            <a:solidFill>
              <a:srgbClr val="C7C9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37460" y="3977640"/>
            <a:ext cx="1485900" cy="777240"/>
          </a:xfrm>
          <a:prstGeom prst="rect">
            <a:avLst/>
          </a:prstGeom>
          <a:solidFill>
            <a:srgbClr val="E5E7EB"/>
          </a:solidFill>
          <a:ln w="9525">
            <a:solidFill>
              <a:srgbClr val="C7C9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3218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Card grid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59612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as a static grid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07408" y="1371600"/>
            <a:ext cx="3941064" cy="4251960"/>
          </a:xfrm>
          <a:prstGeom prst="rect">
            <a:avLst/>
          </a:prstGeom>
          <a:solidFill>
            <a:srgbClr val="DDDEE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1828800"/>
            <a:ext cx="36118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9D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029968"/>
            <a:ext cx="914400" cy="128016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8" name="Shape 16"/>
          <p:cNvSpPr/>
          <p:nvPr/>
        </p:nvSpPr>
        <p:spPr>
          <a:xfrm>
            <a:off x="4800600" y="2331720"/>
            <a:ext cx="2377440" cy="201168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9" name="Shape 17"/>
          <p:cNvSpPr/>
          <p:nvPr/>
        </p:nvSpPr>
        <p:spPr>
          <a:xfrm>
            <a:off x="4800600" y="2606040"/>
            <a:ext cx="1737360" cy="201168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0" y="3108960"/>
            <a:ext cx="0" cy="1828800"/>
          </a:xfrm>
          <a:prstGeom prst="line">
            <a:avLst/>
          </a:prstGeom>
          <a:noFill/>
          <a:ln w="19050">
            <a:solidFill>
              <a:srgbClr val="C7C9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56048" y="3108960"/>
            <a:ext cx="146304" cy="146304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22" name="Shape 20"/>
          <p:cNvSpPr/>
          <p:nvPr/>
        </p:nvSpPr>
        <p:spPr>
          <a:xfrm>
            <a:off x="5257800" y="3145536"/>
            <a:ext cx="237744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Shape 21"/>
          <p:cNvSpPr/>
          <p:nvPr/>
        </p:nvSpPr>
        <p:spPr>
          <a:xfrm>
            <a:off x="4956048" y="3611880"/>
            <a:ext cx="146304" cy="146304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24" name="Shape 22"/>
          <p:cNvSpPr/>
          <p:nvPr/>
        </p:nvSpPr>
        <p:spPr>
          <a:xfrm>
            <a:off x="5257800" y="3648456"/>
            <a:ext cx="237744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Shape 23"/>
          <p:cNvSpPr/>
          <p:nvPr/>
        </p:nvSpPr>
        <p:spPr>
          <a:xfrm>
            <a:off x="4956048" y="4114800"/>
            <a:ext cx="146304" cy="146304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26" name="Shape 24"/>
          <p:cNvSpPr/>
          <p:nvPr/>
        </p:nvSpPr>
        <p:spPr>
          <a:xfrm>
            <a:off x="5257800" y="4151376"/>
            <a:ext cx="237744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4956048" y="4617720"/>
            <a:ext cx="146304" cy="146304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28" name="Shape 26"/>
          <p:cNvSpPr/>
          <p:nvPr/>
        </p:nvSpPr>
        <p:spPr>
          <a:xfrm>
            <a:off x="5257800" y="4654296"/>
            <a:ext cx="237744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53218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Vertical timeline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0" y="559612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as a linear list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339328" y="1371600"/>
            <a:ext cx="3941064" cy="4251960"/>
          </a:xfrm>
          <a:prstGeom prst="rect">
            <a:avLst/>
          </a:prstGeom>
          <a:solidFill>
            <a:srgbClr val="DDDEE2"/>
          </a:solidFill>
          <a:ln/>
        </p:spPr>
      </p:sp>
      <p:sp>
        <p:nvSpPr>
          <p:cNvPr id="32" name="Shape 30"/>
          <p:cNvSpPr/>
          <p:nvPr/>
        </p:nvSpPr>
        <p:spPr>
          <a:xfrm>
            <a:off x="8503920" y="1828800"/>
            <a:ext cx="36118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9D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732520" y="2029968"/>
            <a:ext cx="914400" cy="128016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4" name="Shape 32"/>
          <p:cNvSpPr/>
          <p:nvPr/>
        </p:nvSpPr>
        <p:spPr>
          <a:xfrm>
            <a:off x="8732520" y="2331720"/>
            <a:ext cx="2377440" cy="201168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5" name="Shape 33"/>
          <p:cNvSpPr/>
          <p:nvPr/>
        </p:nvSpPr>
        <p:spPr>
          <a:xfrm>
            <a:off x="8732520" y="2606040"/>
            <a:ext cx="1737360" cy="201168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90988" y="3127248"/>
            <a:ext cx="237744" cy="237744"/>
          </a:xfrm>
          <a:prstGeom prst="ellipse">
            <a:avLst/>
          </a:prstGeom>
          <a:solidFill>
            <a:srgbClr val="E5E7E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837566" y="3395070"/>
            <a:ext cx="237744" cy="237744"/>
          </a:xfrm>
          <a:prstGeom prst="ellipse">
            <a:avLst/>
          </a:prstGeom>
          <a:solidFill>
            <a:srgbClr val="E5E7E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105388" y="4041648"/>
            <a:ext cx="237744" cy="237744"/>
          </a:xfrm>
          <a:prstGeom prst="ellipse">
            <a:avLst/>
          </a:prstGeom>
          <a:solidFill>
            <a:srgbClr val="E5E7E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837566" y="4688226"/>
            <a:ext cx="237744" cy="237744"/>
          </a:xfrm>
          <a:prstGeom prst="ellipse">
            <a:avLst/>
          </a:prstGeom>
          <a:solidFill>
            <a:srgbClr val="E5E7E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90988" y="4956048"/>
            <a:ext cx="237744" cy="237744"/>
          </a:xfrm>
          <a:prstGeom prst="ellipse">
            <a:avLst/>
          </a:prstGeom>
          <a:solidFill>
            <a:srgbClr val="E5E7E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44410" y="4688226"/>
            <a:ext cx="237744" cy="237744"/>
          </a:xfrm>
          <a:prstGeom prst="ellipse">
            <a:avLst/>
          </a:prstGeom>
          <a:solidFill>
            <a:srgbClr val="E5E7E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76588" y="4041648"/>
            <a:ext cx="237744" cy="237744"/>
          </a:xfrm>
          <a:prstGeom prst="ellipse">
            <a:avLst/>
          </a:prstGeom>
          <a:solidFill>
            <a:srgbClr val="E5E7E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44410" y="3395070"/>
            <a:ext cx="237744" cy="237744"/>
          </a:xfrm>
          <a:prstGeom prst="ellipse">
            <a:avLst/>
          </a:prstGeom>
          <a:solidFill>
            <a:srgbClr val="E5E7E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035540" y="3886200"/>
            <a:ext cx="548640" cy="548640"/>
          </a:xfrm>
          <a:prstGeom prst="ellipse">
            <a:avLst/>
          </a:prstGeom>
          <a:ln w="12700">
            <a:solidFill>
              <a:srgbClr val="C7C9D1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8503920" y="53218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Radial loop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503920" y="559612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as a circle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898380" y="585216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/>
        </p:spPr>
      </p:sp>
      <p:sp>
        <p:nvSpPr>
          <p:cNvPr id="48" name="Text 46"/>
          <p:cNvSpPr/>
          <p:nvPr/>
        </p:nvSpPr>
        <p:spPr>
          <a:xfrm>
            <a:off x="9898380" y="58521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gradient identity, a type pairing, and one illustration call.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097280" cy="1051560"/>
          </a:xfrm>
          <a:prstGeom prst="roundRect">
            <a:avLst>
              <a:gd name="adj" fmla="val 6957"/>
            </a:avLst>
          </a:prstGeom>
          <a:solidFill>
            <a:srgbClr val="A855F7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35387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#A855F7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74520" y="2377440"/>
            <a:ext cx="1097280" cy="1051560"/>
          </a:xfrm>
          <a:prstGeom prst="roundRect">
            <a:avLst>
              <a:gd name="adj" fmla="val 6957"/>
            </a:avLst>
          </a:prstGeom>
          <a:solidFill>
            <a:srgbClr val="06B6D4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74520" y="35387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#06B6D4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08960" y="2377440"/>
            <a:ext cx="1097280" cy="1051560"/>
          </a:xfrm>
          <a:prstGeom prst="roundRect">
            <a:avLst>
              <a:gd name="adj" fmla="val 6957"/>
            </a:avLst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08960" y="35387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#3B82F6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sparingly — on the hero headline and on hover states only, so it reads as a signature, not noise.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3484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3484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Jakarta Sans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34840" y="2834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/ headlines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3484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Sans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34840" y="37947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/ UI text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9244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92440" y="237744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4F4F6"/>
          </a:solidFill>
          <a:ln/>
        </p:spPr>
      </p:sp>
      <p:sp>
        <p:nvSpPr>
          <p:cNvPr id="19" name="Shape 17"/>
          <p:cNvSpPr/>
          <p:nvPr/>
        </p:nvSpPr>
        <p:spPr>
          <a:xfrm>
            <a:off x="8641080" y="2788920"/>
            <a:ext cx="109728" cy="109728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20" name="Shape 18"/>
          <p:cNvSpPr/>
          <p:nvPr/>
        </p:nvSpPr>
        <p:spPr>
          <a:xfrm>
            <a:off x="8915400" y="2788920"/>
            <a:ext cx="109728" cy="109728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0" y="3108960"/>
            <a:ext cx="32004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40416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692640" y="237744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3E8FF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49840" y="2697480"/>
            <a:ext cx="502920" cy="50292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58400" y="3246120"/>
            <a:ext cx="685800" cy="365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9692640" y="40416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092440" y="43891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Full-body Notion-style characters over generic line icons — they make the process feel human, not corporate.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MOMENT  ·  AMBIENT BACKGROUND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background that came from direction, not a prompt.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4F4F6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194560"/>
            <a:ext cx="91440" cy="9144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2377440"/>
            <a:ext cx="91440" cy="9144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2148840"/>
            <a:ext cx="91440" cy="9144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2743200"/>
            <a:ext cx="91440" cy="9144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2880360"/>
            <a:ext cx="91440" cy="9144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3154680"/>
            <a:ext cx="91440" cy="9144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11" name="Shape 9"/>
          <p:cNvSpPr/>
          <p:nvPr/>
        </p:nvSpPr>
        <p:spPr>
          <a:xfrm>
            <a:off x="2103120" y="3200400"/>
            <a:ext cx="91440" cy="9144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12" name="Shape 10"/>
          <p:cNvSpPr/>
          <p:nvPr/>
        </p:nvSpPr>
        <p:spPr>
          <a:xfrm>
            <a:off x="2990088" y="187452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1E1E1E"/>
          </a:solidFill>
          <a:ln/>
        </p:spPr>
      </p:sp>
      <p:pic>
        <p:nvPicPr>
          <p:cNvPr id="13" name="Image 0" descr="/Users/addyti/Here-2-build/ref-pixelmator-ed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1528" y="2182662"/>
            <a:ext cx="1600200" cy="938197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340096" y="187452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7C9D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0136" y="2194560"/>
            <a:ext cx="1143000" cy="8686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Shape 13"/>
          <p:cNvSpPr/>
          <p:nvPr/>
        </p:nvSpPr>
        <p:spPr>
          <a:xfrm>
            <a:off x="5843016" y="2377440"/>
            <a:ext cx="201168" cy="201168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17" name="Shape 14"/>
          <p:cNvSpPr/>
          <p:nvPr/>
        </p:nvSpPr>
        <p:spPr>
          <a:xfrm>
            <a:off x="5751576" y="2788920"/>
            <a:ext cx="914400" cy="36576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8" name="Shape 15"/>
          <p:cNvSpPr/>
          <p:nvPr/>
        </p:nvSpPr>
        <p:spPr>
          <a:xfrm>
            <a:off x="6345936" y="1764792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F3E8FF"/>
          </a:solidFill>
          <a:ln/>
        </p:spPr>
      </p:sp>
      <p:sp>
        <p:nvSpPr>
          <p:cNvPr id="19" name="Text 16"/>
          <p:cNvSpPr/>
          <p:nvPr/>
        </p:nvSpPr>
        <p:spPr>
          <a:xfrm>
            <a:off x="6345936" y="17647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online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7690104" y="187452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918704" y="2148840"/>
            <a:ext cx="548640" cy="548640"/>
          </a:xfrm>
          <a:prstGeom prst="hexagon">
            <a:avLst/>
          </a:prstGeom>
          <a:ln w="19050">
            <a:solidFill>
              <a:srgbClr val="A855F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95944" y="2148840"/>
            <a:ext cx="548640" cy="548640"/>
          </a:xfrm>
          <a:prstGeom prst="hexagon">
            <a:avLst/>
          </a:prstGeom>
          <a:ln w="19050">
            <a:solidFill>
              <a:srgbClr val="06B6D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918704" y="2834640"/>
            <a:ext cx="548640" cy="548640"/>
          </a:xfrm>
          <a:prstGeom prst="hexagon">
            <a:avLst/>
          </a:prstGeom>
          <a:ln w="19050">
            <a:solidFill>
              <a:srgbClr val="3B82F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695944" y="2834640"/>
            <a:ext cx="548640" cy="548640"/>
          </a:xfrm>
          <a:prstGeom prst="hexagon">
            <a:avLst/>
          </a:prstGeom>
          <a:ln w="19050">
            <a:solidFill>
              <a:srgbClr val="A855F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040112" y="1874520"/>
            <a:ext cx="1783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6" name="Image 1" descr="/Users/addyti/Here-2-build/ref-hero-f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3393" y="1965960"/>
            <a:ext cx="816519" cy="137160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11109960" y="3136392"/>
            <a:ext cx="713232" cy="237744"/>
          </a:xfrm>
          <a:prstGeom prst="roundRect">
            <a:avLst>
              <a:gd name="adj" fmla="val 23077"/>
            </a:avLst>
          </a:prstGeom>
          <a:solidFill>
            <a:srgbClr val="ECFEFF"/>
          </a:solidFill>
          <a:ln/>
        </p:spPr>
      </p:sp>
      <p:sp>
        <p:nvSpPr>
          <p:cNvPr id="28" name="Text 24"/>
          <p:cNvSpPr/>
          <p:nvPr/>
        </p:nvSpPr>
        <p:spPr>
          <a:xfrm>
            <a:off x="11109960" y="313639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650" dirty="0"/>
          </a:p>
        </p:txBody>
      </p:sp>
      <p:sp>
        <p:nvSpPr>
          <p:cNvPr id="29" name="Text 25"/>
          <p:cNvSpPr/>
          <p:nvPr/>
        </p:nvSpPr>
        <p:spPr>
          <a:xfrm>
            <a:off x="548640" y="35387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first pass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2441448" y="248716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2898648" y="35387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Pixelmator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4791456" y="248716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5248656" y="35387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sourced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7141464" y="248716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7598664" y="35387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applied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9491472" y="248716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9948672" y="35387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— shipped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640080" y="452628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F4F4F6"/>
          </a:solidFill>
          <a:ln/>
        </p:spPr>
      </p:sp>
      <p:sp>
        <p:nvSpPr>
          <p:cNvPr id="39" name="Text 35"/>
          <p:cNvSpPr/>
          <p:nvPr/>
        </p:nvSpPr>
        <p:spPr>
          <a:xfrm>
            <a:off x="914400" y="4709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directed rounds, zero templates.</a:t>
            </a:r>
            <a:endParaRPr lang="en-US" sz="1500" dirty="0"/>
          </a:p>
        </p:txBody>
      </p:sp>
      <p:sp>
        <p:nvSpPr>
          <p:cNvPr id="40" name="Text 36"/>
          <p:cNvSpPr/>
          <p:nvPr/>
        </p:nvSpPr>
        <p:spPr>
          <a:xfrm>
            <a:off x="914400" y="5102352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called the shape, sourced and shared the reference image, set the exact brand palette, specified the sizing and density, and directed the final faded-pixel, semi-transparent finish. The AI executed every round — the taste behind each decision was mine.</a:t>
            </a:r>
            <a:endParaRPr lang="en-US" sz="1150" dirty="0"/>
          </a:p>
        </p:txBody>
      </p:sp>
      <p:sp>
        <p:nvSpPr>
          <p:cNvPr id="41" name="Text 37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DESIGN  · 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proof before pitch.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417320"/>
            <a:ext cx="12161520" cy="5029200"/>
          </a:xfrm>
          <a:prstGeom prst="rect">
            <a:avLst/>
          </a:prstGeom>
          <a:solidFill>
            <a:srgbClr val="DDDEE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691640"/>
            <a:ext cx="103327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9D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17320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Desktop — hero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34440" y="1965960"/>
            <a:ext cx="1280160" cy="182880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0" y="192938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253728" y="192938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912096" y="192938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570464" y="192938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234440" y="246888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products at the 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</a:t>
            </a:r>
            <a:pPr indent="0" marL="0">
              <a:buNone/>
            </a:pPr>
            <a:r>
              <a:rPr lang="en-US" sz="24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</a:t>
            </a:r>
            <a:pPr indent="0" marL="0">
              <a:buNone/>
            </a:pPr>
            <a:r>
              <a:rPr lang="en-US" sz="2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pPr indent="0" marL="0">
              <a:buNone/>
            </a:pPr>
            <a:r>
              <a:rPr lang="en-US" sz="24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pPr indent="0" marL="0">
              <a:buNone/>
            </a:pPr>
            <a:r>
              <a:rPr lang="en-US" sz="24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4440" y="3611880"/>
            <a:ext cx="585216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4440" y="3794760"/>
            <a:ext cx="466344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4297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$5.3M+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3444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0→1 build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0" y="4297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40–45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0040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tests / brand / yr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66360" y="4297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16636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reached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29600" y="260604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4F4F6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headshot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portrait area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lead with quantified impact, not a job title — recruiters credit numbers faster than adjectives.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DESIGN  · 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— case studies that fly in, one at a time.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417320"/>
            <a:ext cx="12161520" cy="5029200"/>
          </a:xfrm>
          <a:prstGeom prst="rect">
            <a:avLst/>
          </a:prstGeom>
          <a:solidFill>
            <a:srgbClr val="DDDEE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691640"/>
            <a:ext cx="103327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9D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17320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Desktop — work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88720" y="2011680"/>
            <a:ext cx="4754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63040" y="2286000"/>
            <a:ext cx="1463040" cy="1828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606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Williams-Sonoma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463040" y="2971800"/>
            <a:ext cx="3931920" cy="9144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1463040" y="3127248"/>
            <a:ext cx="3474720" cy="9144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2011680"/>
            <a:ext cx="4754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2286000"/>
            <a:ext cx="1463040" cy="1828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606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Zenni Optical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2971800"/>
            <a:ext cx="3931920" cy="9144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3127248"/>
            <a:ext cx="3474720" cy="9144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8720" y="4069080"/>
            <a:ext cx="4754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463040" y="4343400"/>
            <a:ext cx="146304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463040" y="4663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Rodan + Fields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463040" y="5029200"/>
            <a:ext cx="3931920" cy="9144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Shape 19"/>
          <p:cNvSpPr/>
          <p:nvPr/>
        </p:nvSpPr>
        <p:spPr>
          <a:xfrm>
            <a:off x="1463040" y="5184648"/>
            <a:ext cx="3474720" cy="9144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4069080"/>
            <a:ext cx="4754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92240" y="4343400"/>
            <a:ext cx="1463040" cy="18288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4663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Career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92240" y="5029200"/>
            <a:ext cx="3931920" cy="9144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Shape 24"/>
          <p:cNvSpPr/>
          <p:nvPr/>
        </p:nvSpPr>
        <p:spPr>
          <a:xfrm>
            <a:off x="6492240" y="5184648"/>
            <a:ext cx="3474720" cy="9144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cards fly in one-at-a-time on scroll-into-view — motion earns attention without feeling gimmicky.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MOMENT  ·  HOW I BUILD PRODUCTS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part of the site built to make a point.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417320"/>
            <a:ext cx="6492240" cy="5120640"/>
          </a:xfrm>
          <a:prstGeom prst="rect">
            <a:avLst/>
          </a:prstGeom>
          <a:solidFill>
            <a:srgbClr val="DDDEE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91640"/>
            <a:ext cx="54864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9D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4173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Desktop — circle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64408" y="2189988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01568" y="2327148"/>
            <a:ext cx="237744" cy="23774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9" name="Shape 7"/>
          <p:cNvSpPr/>
          <p:nvPr/>
        </p:nvSpPr>
        <p:spPr>
          <a:xfrm>
            <a:off x="4395920" y="2658676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B6CF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33080" y="2795836"/>
            <a:ext cx="237744" cy="237744"/>
          </a:xfrm>
          <a:prstGeom prst="ellipse">
            <a:avLst/>
          </a:prstGeom>
          <a:solidFill>
            <a:srgbClr val="8B6CF7"/>
          </a:solidFill>
          <a:ln/>
        </p:spPr>
      </p:sp>
      <p:sp>
        <p:nvSpPr>
          <p:cNvPr id="11" name="Shape 9"/>
          <p:cNvSpPr/>
          <p:nvPr/>
        </p:nvSpPr>
        <p:spPr>
          <a:xfrm>
            <a:off x="4864608" y="3790188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01768" y="3927348"/>
            <a:ext cx="237744" cy="23774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5920" y="4921700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2A6C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33080" y="5058860"/>
            <a:ext cx="237744" cy="237744"/>
          </a:xfrm>
          <a:prstGeom prst="ellipse">
            <a:avLst/>
          </a:prstGeom>
          <a:solidFill>
            <a:srgbClr val="22A6C9"/>
          </a:solidFill>
          <a:ln/>
        </p:spPr>
      </p:sp>
      <p:sp>
        <p:nvSpPr>
          <p:cNvPr id="15" name="Shape 13"/>
          <p:cNvSpPr/>
          <p:nvPr/>
        </p:nvSpPr>
        <p:spPr>
          <a:xfrm>
            <a:off x="3264408" y="5390388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01568" y="5527548"/>
            <a:ext cx="237744" cy="23774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2132896" y="4921700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8D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70056" y="5058860"/>
            <a:ext cx="237744" cy="237744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9" name="Shape 17"/>
          <p:cNvSpPr/>
          <p:nvPr/>
        </p:nvSpPr>
        <p:spPr>
          <a:xfrm>
            <a:off x="1664208" y="3790188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6C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01368" y="3927348"/>
            <a:ext cx="237744" cy="237744"/>
          </a:xfrm>
          <a:prstGeom prst="ellipse">
            <a:avLst/>
          </a:prstGeom>
          <a:solidFill>
            <a:srgbClr val="7C6CF0"/>
          </a:solidFill>
          <a:ln/>
        </p:spPr>
      </p:sp>
      <p:sp>
        <p:nvSpPr>
          <p:cNvPr id="21" name="Shape 19"/>
          <p:cNvSpPr/>
          <p:nvPr/>
        </p:nvSpPr>
        <p:spPr>
          <a:xfrm>
            <a:off x="2132896" y="2658676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38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70056" y="2795836"/>
            <a:ext cx="237744" cy="237744"/>
          </a:xfrm>
          <a:prstGeom prst="ellipse">
            <a:avLst/>
          </a:prstGeom>
          <a:solidFill>
            <a:srgbClr val="B388F0"/>
          </a:solidFill>
          <a:ln/>
        </p:spPr>
      </p:sp>
      <p:sp>
        <p:nvSpPr>
          <p:cNvPr id="23" name="Text 21"/>
          <p:cNvSpPr/>
          <p:nvPr/>
        </p:nvSpPr>
        <p:spPr>
          <a:xfrm>
            <a:off x="2971800" y="37719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circle, not a list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75120" y="21488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work doesn't end at launch — it loops back into discovery. A linear list implies a finish line; this never finishes, which is the actual point I wanted to make about how I operate.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675120" y="3300984"/>
            <a:ext cx="73152" cy="7315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317296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stages, equal 45° spacing — solved with rotate() + counter-rotate() math, not a layout hack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75120" y="4014216"/>
            <a:ext cx="73152" cy="7315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38862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Auto-plays once on scroll-into-view, then settles to hover-driven exploration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75120" y="4727448"/>
            <a:ext cx="73152" cy="7315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459943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 bubbles float in the side whitespace, never competing with the circle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DESIGN  · 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voice, and a single clear next step.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463040"/>
            <a:ext cx="12161520" cy="1965960"/>
          </a:xfrm>
          <a:prstGeom prst="rect">
            <a:avLst/>
          </a:prstGeom>
          <a:solidFill>
            <a:srgbClr val="DDDEE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91640"/>
            <a:ext cx="10607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9D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41732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Tools — scrolling marquee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5840" y="2194560"/>
            <a:ext cx="1143000" cy="502920"/>
          </a:xfrm>
          <a:prstGeom prst="roundRect">
            <a:avLst>
              <a:gd name="adj" fmla="val 12727"/>
            </a:avLst>
          </a:prstGeom>
          <a:solidFill>
            <a:srgbClr val="F4F4F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1945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2194560"/>
            <a:ext cx="1143000" cy="502920"/>
          </a:xfrm>
          <a:prstGeom prst="roundRect">
            <a:avLst>
              <a:gd name="adj" fmla="val 12727"/>
            </a:avLst>
          </a:prstGeom>
          <a:solidFill>
            <a:srgbClr val="F4F4F6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21945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66160" y="2194560"/>
            <a:ext cx="1143000" cy="502920"/>
          </a:xfrm>
          <a:prstGeom prst="roundRect">
            <a:avLst>
              <a:gd name="adj" fmla="val 12727"/>
            </a:avLst>
          </a:prstGeom>
          <a:solidFill>
            <a:srgbClr val="F4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1945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2194560"/>
            <a:ext cx="1143000" cy="502920"/>
          </a:xfrm>
          <a:prstGeom prst="roundRect">
            <a:avLst>
              <a:gd name="adj" fmla="val 12727"/>
            </a:avLst>
          </a:prstGeom>
          <a:solidFill>
            <a:srgbClr val="F4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1945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2194560"/>
            <a:ext cx="1143000" cy="502920"/>
          </a:xfrm>
          <a:prstGeom prst="roundRect">
            <a:avLst>
              <a:gd name="adj" fmla="val 12727"/>
            </a:avLst>
          </a:prstGeom>
          <a:solidFill>
            <a:srgbClr val="F4F4F6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21945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06640" y="2194560"/>
            <a:ext cx="1143000" cy="502920"/>
          </a:xfrm>
          <a:prstGeom prst="roundRect">
            <a:avLst>
              <a:gd name="adj" fmla="val 12727"/>
            </a:avLst>
          </a:prstGeom>
          <a:solidFill>
            <a:srgbClr val="F4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21945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686800" y="2194560"/>
            <a:ext cx="1143000" cy="502920"/>
          </a:xfrm>
          <a:prstGeom prst="roundRect">
            <a:avLst>
              <a:gd name="adj" fmla="val 12727"/>
            </a:avLst>
          </a:prstGeom>
          <a:solidFill>
            <a:srgbClr val="F4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0" y="21945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966960" y="2194560"/>
            <a:ext cx="1143000" cy="502920"/>
          </a:xfrm>
          <a:prstGeom prst="roundRect">
            <a:avLst>
              <a:gd name="adj" fmla="val 12727"/>
            </a:avLst>
          </a:prstGeom>
          <a:solidFill>
            <a:srgbClr val="F4F4F6"/>
          </a:solidFill>
          <a:ln/>
        </p:spPr>
      </p:sp>
      <p:sp>
        <p:nvSpPr>
          <p:cNvPr id="22" name="Text 20"/>
          <p:cNvSpPr/>
          <p:nvPr/>
        </p:nvSpPr>
        <p:spPr>
          <a:xfrm>
            <a:off x="9966960" y="21945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291840"/>
            <a:ext cx="5394960" cy="2880360"/>
          </a:xfrm>
          <a:prstGeom prst="rect">
            <a:avLst/>
          </a:prstGeom>
          <a:solidFill>
            <a:srgbClr val="DDDEE2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3520440"/>
            <a:ext cx="4937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9D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324612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51560" y="3794760"/>
            <a:ext cx="685800" cy="68580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1920240" y="3886200"/>
            <a:ext cx="329184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Shape 26"/>
          <p:cNvSpPr/>
          <p:nvPr/>
        </p:nvSpPr>
        <p:spPr>
          <a:xfrm>
            <a:off x="1920240" y="4069080"/>
            <a:ext cx="2651760" cy="10972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Shape 27"/>
          <p:cNvSpPr/>
          <p:nvPr/>
        </p:nvSpPr>
        <p:spPr>
          <a:xfrm>
            <a:off x="1051560" y="4754880"/>
            <a:ext cx="4206240" cy="9144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30" name="Shape 28"/>
          <p:cNvSpPr/>
          <p:nvPr/>
        </p:nvSpPr>
        <p:spPr>
          <a:xfrm>
            <a:off x="1051560" y="4910328"/>
            <a:ext cx="3566160" cy="9144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31" name="Shape 29"/>
          <p:cNvSpPr/>
          <p:nvPr/>
        </p:nvSpPr>
        <p:spPr>
          <a:xfrm>
            <a:off x="6126480" y="3291840"/>
            <a:ext cx="5715000" cy="2880360"/>
          </a:xfrm>
          <a:prstGeom prst="rect">
            <a:avLst/>
          </a:prstGeom>
          <a:solidFill>
            <a:srgbClr val="DDDEE2"/>
          </a:solidFill>
          <a:ln/>
        </p:spPr>
      </p:sp>
      <p:sp>
        <p:nvSpPr>
          <p:cNvPr id="32" name="Shape 30"/>
          <p:cNvSpPr/>
          <p:nvPr/>
        </p:nvSpPr>
        <p:spPr>
          <a:xfrm>
            <a:off x="6355080" y="3520440"/>
            <a:ext cx="4937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9D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55080" y="324612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29400" y="3886200"/>
            <a:ext cx="4297680" cy="365760"/>
          </a:xfrm>
          <a:prstGeom prst="roundRect">
            <a:avLst>
              <a:gd name="adj" fmla="val 15000"/>
            </a:avLst>
          </a:prstGeom>
          <a:solidFill>
            <a:srgbClr val="F4F4F6"/>
          </a:solidFill>
          <a:ln/>
        </p:spPr>
      </p:sp>
      <p:sp>
        <p:nvSpPr>
          <p:cNvPr id="35" name="Shape 33"/>
          <p:cNvSpPr/>
          <p:nvPr/>
        </p:nvSpPr>
        <p:spPr>
          <a:xfrm>
            <a:off x="6629400" y="4389120"/>
            <a:ext cx="4297680" cy="365760"/>
          </a:xfrm>
          <a:prstGeom prst="roundRect">
            <a:avLst>
              <a:gd name="adj" fmla="val 15000"/>
            </a:avLst>
          </a:prstGeom>
          <a:solidFill>
            <a:srgbClr val="F4F4F6"/>
          </a:solidFill>
          <a:ln/>
        </p:spPr>
      </p:sp>
      <p:sp>
        <p:nvSpPr>
          <p:cNvPr id="36" name="Shape 34"/>
          <p:cNvSpPr/>
          <p:nvPr/>
        </p:nvSpPr>
        <p:spPr>
          <a:xfrm>
            <a:off x="6629400" y="489204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/>
        </p:spPr>
      </p:sp>
      <p:sp>
        <p:nvSpPr>
          <p:cNvPr id="37" name="Text 35"/>
          <p:cNvSpPr/>
          <p:nvPr/>
        </p:nvSpPr>
        <p:spPr>
          <a:xfrm>
            <a:off x="6629400" y="48920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building this proves, beyond the portfolio itself.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74920" cy="2103120"/>
          </a:xfrm>
          <a:prstGeom prst="roundRect">
            <a:avLst>
              <a:gd name="adj" fmla="val 4348"/>
            </a:avLst>
          </a:prstGeom>
          <a:solidFill>
            <a:srgbClr val="F4F4F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2140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ambiguity solo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brief, no team — I defined the problem, the audience, and the success criteria myself.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89320" y="1828800"/>
            <a:ext cx="5074920" cy="2103120"/>
          </a:xfrm>
          <a:prstGeom prst="roundRect">
            <a:avLst>
              <a:gd name="adj" fmla="val 4348"/>
            </a:avLst>
          </a:prstGeom>
          <a:solidFill>
            <a:srgbClr val="F4F4F6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212140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fast with AI as a partner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309360" y="260604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AI tools hands-on through every stage — not as a novelty, but as a real execution multiplier.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251960"/>
            <a:ext cx="5074920" cy="2103120"/>
          </a:xfrm>
          <a:prstGeom prst="roundRect">
            <a:avLst>
              <a:gd name="adj" fmla="val 4348"/>
            </a:avLst>
          </a:prstGeom>
          <a:solidFill>
            <a:srgbClr val="F4F4F6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54456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Sweated the craft details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60120" y="502920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math, animation timing, background removal on illustrations — the kind of polish that's easy to skip and easy to notice.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9320" y="4251960"/>
            <a:ext cx="5074920" cy="2103120"/>
          </a:xfrm>
          <a:prstGeom prst="roundRect">
            <a:avLst>
              <a:gd name="adj" fmla="val 4348"/>
            </a:avLst>
          </a:prstGeom>
          <a:solidFill>
            <a:srgbClr val="F4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454456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it end-to-end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309360" y="502920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content, interaction, and deployment — one person, one decision-maker, one shipped product.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E1E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4688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what's next.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3375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addytish.github.io</a:t>
            </a:r>
            <a:pPr indent="0" marL="0">
              <a:buNone/>
            </a:pPr>
            <a:r>
              <a:rPr lang="en-US" sz="16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addytisharma@gmail.com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023360"/>
            <a:ext cx="201168" cy="20116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4023360"/>
            <a:ext cx="201168" cy="20116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Shape 5"/>
          <p:cNvSpPr/>
          <p:nvPr/>
        </p:nvSpPr>
        <p:spPr>
          <a:xfrm>
            <a:off x="1261872" y="4023360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 Sharma  ·  Senior Product Manager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My Portfolio — Case Study</dc:title>
  <dc:subject>PptxGenJS Presentation</dc:subject>
  <dc:creator>Aditi Sharma</dc:creator>
  <cp:lastModifiedBy>Aditi Sharma</cp:lastModifiedBy>
  <cp:revision>1</cp:revision>
  <dcterms:created xsi:type="dcterms:W3CDTF">2026-06-26T16:51:39Z</dcterms:created>
  <dcterms:modified xsi:type="dcterms:W3CDTF">2026-06-26T16:51:39Z</dcterms:modified>
</cp:coreProperties>
</file>